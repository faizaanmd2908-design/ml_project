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embeddedFontLst>
    <p:embeddedFont>
      <p:font typeface="Inter" panose="020B0604020202020204" charset="0"/>
      <p:regular r:id="rId12"/>
    </p:embeddedFont>
    <p:embeddedFont>
      <p:font typeface="Inter 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35878A-A98E-4197-A14B-0C3C68729D17}" v="3" dt="2026-09-23T05:11:27.4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izaan Mohammad" userId="1d8cebe88c6c54eb" providerId="LiveId" clId="{9D323E12-E77F-4C5F-9963-DCA56EAD3563}"/>
    <pc:docChg chg="undo custSel delSld modSld">
      <pc:chgData name="Faizaan Mohammad" userId="1d8cebe88c6c54eb" providerId="LiveId" clId="{9D323E12-E77F-4C5F-9963-DCA56EAD3563}" dt="2026-09-23T05:20:31.164" v="144" actId="1076"/>
      <pc:docMkLst>
        <pc:docMk/>
      </pc:docMkLst>
      <pc:sldChg chg="addSp modSp mod">
        <pc:chgData name="Faizaan Mohammad" userId="1d8cebe88c6c54eb" providerId="LiveId" clId="{9D323E12-E77F-4C5F-9963-DCA56EAD3563}" dt="2026-09-23T05:04:14.624" v="1" actId="1076"/>
        <pc:sldMkLst>
          <pc:docMk/>
          <pc:sldMk cId="0" sldId="258"/>
        </pc:sldMkLst>
        <pc:picChg chg="add mod">
          <ac:chgData name="Faizaan Mohammad" userId="1d8cebe88c6c54eb" providerId="LiveId" clId="{9D323E12-E77F-4C5F-9963-DCA56EAD3563}" dt="2026-09-23T05:04:14.624" v="1" actId="1076"/>
          <ac:picMkLst>
            <pc:docMk/>
            <pc:sldMk cId="0" sldId="258"/>
            <ac:picMk id="12" creationId="{4C865582-514D-92E3-4C39-02303F84BBD9}"/>
          </ac:picMkLst>
        </pc:picChg>
      </pc:sldChg>
      <pc:sldChg chg="modSp mod">
        <pc:chgData name="Faizaan Mohammad" userId="1d8cebe88c6c54eb" providerId="LiveId" clId="{9D323E12-E77F-4C5F-9963-DCA56EAD3563}" dt="2026-09-23T05:06:05.151" v="23" actId="14100"/>
        <pc:sldMkLst>
          <pc:docMk/>
          <pc:sldMk cId="0" sldId="259"/>
        </pc:sldMkLst>
        <pc:picChg chg="mod">
          <ac:chgData name="Faizaan Mohammad" userId="1d8cebe88c6c54eb" providerId="LiveId" clId="{9D323E12-E77F-4C5F-9963-DCA56EAD3563}" dt="2026-09-23T05:06:05.151" v="23" actId="14100"/>
          <ac:picMkLst>
            <pc:docMk/>
            <pc:sldMk cId="0" sldId="259"/>
            <ac:picMk id="2" creationId="{00000000-0000-0000-0000-000000000000}"/>
          </ac:picMkLst>
        </pc:picChg>
      </pc:sldChg>
      <pc:sldChg chg="addSp modSp mod">
        <pc:chgData name="Faizaan Mohammad" userId="1d8cebe88c6c54eb" providerId="LiveId" clId="{9D323E12-E77F-4C5F-9963-DCA56EAD3563}" dt="2026-09-23T05:04:21.682" v="3" actId="1076"/>
        <pc:sldMkLst>
          <pc:docMk/>
          <pc:sldMk cId="0" sldId="260"/>
        </pc:sldMkLst>
        <pc:picChg chg="add mod">
          <ac:chgData name="Faizaan Mohammad" userId="1d8cebe88c6c54eb" providerId="LiveId" clId="{9D323E12-E77F-4C5F-9963-DCA56EAD3563}" dt="2026-09-23T05:04:21.682" v="3" actId="1076"/>
          <ac:picMkLst>
            <pc:docMk/>
            <pc:sldMk cId="0" sldId="260"/>
            <ac:picMk id="8" creationId="{3336FB74-38CE-6514-82BF-E5FB69648C7E}"/>
          </ac:picMkLst>
        </pc:picChg>
      </pc:sldChg>
      <pc:sldChg chg="addSp modSp mod">
        <pc:chgData name="Faizaan Mohammad" userId="1d8cebe88c6c54eb" providerId="LiveId" clId="{9D323E12-E77F-4C5F-9963-DCA56EAD3563}" dt="2026-09-23T05:10:50.477" v="74" actId="1076"/>
        <pc:sldMkLst>
          <pc:docMk/>
          <pc:sldMk cId="0" sldId="261"/>
        </pc:sldMkLst>
        <pc:picChg chg="add mod">
          <ac:chgData name="Faizaan Mohammad" userId="1d8cebe88c6c54eb" providerId="LiveId" clId="{9D323E12-E77F-4C5F-9963-DCA56EAD3563}" dt="2026-09-23T05:10:50.477" v="74" actId="1076"/>
          <ac:picMkLst>
            <pc:docMk/>
            <pc:sldMk cId="0" sldId="261"/>
            <ac:picMk id="17" creationId="{1452AC5A-2253-91AF-F013-CA6239FE6EDE}"/>
          </ac:picMkLst>
        </pc:picChg>
      </pc:sldChg>
      <pc:sldChg chg="addSp modSp mod">
        <pc:chgData name="Faizaan Mohammad" userId="1d8cebe88c6c54eb" providerId="LiveId" clId="{9D323E12-E77F-4C5F-9963-DCA56EAD3563}" dt="2026-09-23T05:20:31.164" v="144" actId="1076"/>
        <pc:sldMkLst>
          <pc:docMk/>
          <pc:sldMk cId="0" sldId="263"/>
        </pc:sldMkLst>
        <pc:spChg chg="mod">
          <ac:chgData name="Faizaan Mohammad" userId="1d8cebe88c6c54eb" providerId="LiveId" clId="{9D323E12-E77F-4C5F-9963-DCA56EAD3563}" dt="2026-09-23T05:06:51.997" v="27" actId="6549"/>
          <ac:spMkLst>
            <pc:docMk/>
            <pc:sldMk cId="0" sldId="263"/>
            <ac:spMk id="2" creationId="{00000000-0000-0000-0000-000000000000}"/>
          </ac:spMkLst>
        </pc:spChg>
        <pc:spChg chg="mod">
          <ac:chgData name="Faizaan Mohammad" userId="1d8cebe88c6c54eb" providerId="LiveId" clId="{9D323E12-E77F-4C5F-9963-DCA56EAD3563}" dt="2026-09-23T05:20:31.164" v="144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Faizaan Mohammad" userId="1d8cebe88c6c54eb" providerId="LiveId" clId="{9D323E12-E77F-4C5F-9963-DCA56EAD3563}" dt="2026-09-23T05:09:13.800" v="57" actId="113"/>
          <ac:spMkLst>
            <pc:docMk/>
            <pc:sldMk cId="0" sldId="263"/>
            <ac:spMk id="12" creationId="{00000000-0000-0000-0000-000000000000}"/>
          </ac:spMkLst>
        </pc:spChg>
        <pc:spChg chg="mod">
          <ac:chgData name="Faizaan Mohammad" userId="1d8cebe88c6c54eb" providerId="LiveId" clId="{9D323E12-E77F-4C5F-9963-DCA56EAD3563}" dt="2026-09-23T05:10:21.587" v="69" actId="20577"/>
          <ac:spMkLst>
            <pc:docMk/>
            <pc:sldMk cId="0" sldId="263"/>
            <ac:spMk id="13" creationId="{00000000-0000-0000-0000-000000000000}"/>
          </ac:spMkLst>
        </pc:spChg>
        <pc:spChg chg="add mod">
          <ac:chgData name="Faizaan Mohammad" userId="1d8cebe88c6c54eb" providerId="LiveId" clId="{9D323E12-E77F-4C5F-9963-DCA56EAD3563}" dt="2026-09-23T05:07:02.354" v="29" actId="1076"/>
          <ac:spMkLst>
            <pc:docMk/>
            <pc:sldMk cId="0" sldId="263"/>
            <ac:spMk id="17" creationId="{F29883ED-C061-67A1-12F7-83C3A56309A9}"/>
          </ac:spMkLst>
        </pc:spChg>
        <pc:spChg chg="add mod">
          <ac:chgData name="Faizaan Mohammad" userId="1d8cebe88c6c54eb" providerId="LiveId" clId="{9D323E12-E77F-4C5F-9963-DCA56EAD3563}" dt="2026-09-23T05:08:18.868" v="48" actId="767"/>
          <ac:spMkLst>
            <pc:docMk/>
            <pc:sldMk cId="0" sldId="263"/>
            <ac:spMk id="18" creationId="{0EE90EA2-A936-212C-8E1F-328E1538FBF2}"/>
          </ac:spMkLst>
        </pc:spChg>
        <pc:picChg chg="mod">
          <ac:chgData name="Faizaan Mohammad" userId="1d8cebe88c6c54eb" providerId="LiveId" clId="{9D323E12-E77F-4C5F-9963-DCA56EAD3563}" dt="2026-09-23T05:09:59.473" v="64" actId="1076"/>
          <ac:picMkLst>
            <pc:docMk/>
            <pc:sldMk cId="0" sldId="263"/>
            <ac:picMk id="3" creationId="{00000000-0000-0000-0000-000000000000}"/>
          </ac:picMkLst>
        </pc:picChg>
        <pc:picChg chg="add mod">
          <ac:chgData name="Faizaan Mohammad" userId="1d8cebe88c6c54eb" providerId="LiveId" clId="{9D323E12-E77F-4C5F-9963-DCA56EAD3563}" dt="2026-09-23T05:04:28.673" v="5" actId="1076"/>
          <ac:picMkLst>
            <pc:docMk/>
            <pc:sldMk cId="0" sldId="263"/>
            <ac:picMk id="15" creationId="{88755897-56CD-83A1-A2EC-42EB739CB905}"/>
          </ac:picMkLst>
        </pc:picChg>
      </pc:sldChg>
      <pc:sldChg chg="addSp modSp del mod">
        <pc:chgData name="Faizaan Mohammad" userId="1d8cebe88c6c54eb" providerId="LiveId" clId="{9D323E12-E77F-4C5F-9963-DCA56EAD3563}" dt="2026-09-23T05:06:34.230" v="24" actId="47"/>
        <pc:sldMkLst>
          <pc:docMk/>
          <pc:sldMk cId="0" sldId="264"/>
        </pc:sldMkLst>
        <pc:spChg chg="mod">
          <ac:chgData name="Faizaan Mohammad" userId="1d8cebe88c6c54eb" providerId="LiveId" clId="{9D323E12-E77F-4C5F-9963-DCA56EAD3563}" dt="2026-09-23T05:05:02.139" v="13" actId="14100"/>
          <ac:spMkLst>
            <pc:docMk/>
            <pc:sldMk cId="0" sldId="264"/>
            <ac:spMk id="4" creationId="{00000000-0000-0000-0000-000000000000}"/>
          </ac:spMkLst>
        </pc:spChg>
        <pc:spChg chg="mod">
          <ac:chgData name="Faizaan Mohammad" userId="1d8cebe88c6c54eb" providerId="LiveId" clId="{9D323E12-E77F-4C5F-9963-DCA56EAD3563}" dt="2026-09-23T05:05:14.013" v="14" actId="1076"/>
          <ac:spMkLst>
            <pc:docMk/>
            <pc:sldMk cId="0" sldId="264"/>
            <ac:spMk id="5" creationId="{00000000-0000-0000-0000-000000000000}"/>
          </ac:spMkLst>
        </pc:spChg>
        <pc:picChg chg="mod">
          <ac:chgData name="Faizaan Mohammad" userId="1d8cebe88c6c54eb" providerId="LiveId" clId="{9D323E12-E77F-4C5F-9963-DCA56EAD3563}" dt="2026-09-23T05:04:47.387" v="11" actId="14100"/>
          <ac:picMkLst>
            <pc:docMk/>
            <pc:sldMk cId="0" sldId="264"/>
            <ac:picMk id="3" creationId="{00000000-0000-0000-0000-000000000000}"/>
          </ac:picMkLst>
        </pc:picChg>
        <pc:picChg chg="add mod">
          <ac:chgData name="Faizaan Mohammad" userId="1d8cebe88c6c54eb" providerId="LiveId" clId="{9D323E12-E77F-4C5F-9963-DCA56EAD3563}" dt="2026-09-23T05:04:38.618" v="8" actId="1076"/>
          <ac:picMkLst>
            <pc:docMk/>
            <pc:sldMk cId="0" sldId="264"/>
            <ac:picMk id="10" creationId="{5E546C34-F006-9CC4-9A0F-2AD352F1315B}"/>
          </ac:picMkLst>
        </pc:picChg>
      </pc:sldChg>
      <pc:sldChg chg="addSp delSp modSp mod">
        <pc:chgData name="Faizaan Mohammad" userId="1d8cebe88c6c54eb" providerId="LiveId" clId="{9D323E12-E77F-4C5F-9963-DCA56EAD3563}" dt="2026-09-23T05:16:47.064" v="143" actId="255"/>
        <pc:sldMkLst>
          <pc:docMk/>
          <pc:sldMk cId="0" sldId="265"/>
        </pc:sldMkLst>
        <pc:spChg chg="mod">
          <ac:chgData name="Faizaan Mohammad" userId="1d8cebe88c6c54eb" providerId="LiveId" clId="{9D323E12-E77F-4C5F-9963-DCA56EAD3563}" dt="2026-09-23T05:11:22.978" v="75" actId="255"/>
          <ac:spMkLst>
            <pc:docMk/>
            <pc:sldMk cId="0" sldId="265"/>
            <ac:spMk id="2" creationId="{00000000-0000-0000-0000-000000000000}"/>
          </ac:spMkLst>
        </pc:spChg>
        <pc:spChg chg="mod">
          <ac:chgData name="Faizaan Mohammad" userId="1d8cebe88c6c54eb" providerId="LiveId" clId="{9D323E12-E77F-4C5F-9963-DCA56EAD3563}" dt="2026-09-23T05:12:32.827" v="90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Faizaan Mohammad" userId="1d8cebe88c6c54eb" providerId="LiveId" clId="{9D323E12-E77F-4C5F-9963-DCA56EAD3563}" dt="2026-09-23T05:15:57.208" v="135" actId="20577"/>
          <ac:spMkLst>
            <pc:docMk/>
            <pc:sldMk cId="0" sldId="265"/>
            <ac:spMk id="4" creationId="{00000000-0000-0000-0000-000000000000}"/>
          </ac:spMkLst>
        </pc:spChg>
        <pc:spChg chg="mod">
          <ac:chgData name="Faizaan Mohammad" userId="1d8cebe88c6c54eb" providerId="LiveId" clId="{9D323E12-E77F-4C5F-9963-DCA56EAD3563}" dt="2026-09-23T05:16:47.064" v="143" actId="255"/>
          <ac:spMkLst>
            <pc:docMk/>
            <pc:sldMk cId="0" sldId="265"/>
            <ac:spMk id="5" creationId="{00000000-0000-0000-0000-000000000000}"/>
          </ac:spMkLst>
        </pc:spChg>
        <pc:spChg chg="mod">
          <ac:chgData name="Faizaan Mohammad" userId="1d8cebe88c6c54eb" providerId="LiveId" clId="{9D323E12-E77F-4C5F-9963-DCA56EAD3563}" dt="2026-09-23T05:14:51.853" v="120" actId="688"/>
          <ac:spMkLst>
            <pc:docMk/>
            <pc:sldMk cId="0" sldId="265"/>
            <ac:spMk id="6" creationId="{00000000-0000-0000-0000-000000000000}"/>
          </ac:spMkLst>
        </pc:spChg>
        <pc:spChg chg="mod">
          <ac:chgData name="Faizaan Mohammad" userId="1d8cebe88c6c54eb" providerId="LiveId" clId="{9D323E12-E77F-4C5F-9963-DCA56EAD3563}" dt="2026-09-23T05:14:45.310" v="119" actId="688"/>
          <ac:spMkLst>
            <pc:docMk/>
            <pc:sldMk cId="0" sldId="265"/>
            <ac:spMk id="8" creationId="{00000000-0000-0000-0000-000000000000}"/>
          </ac:spMkLst>
        </pc:spChg>
        <pc:spChg chg="mod">
          <ac:chgData name="Faizaan Mohammad" userId="1d8cebe88c6c54eb" providerId="LiveId" clId="{9D323E12-E77F-4C5F-9963-DCA56EAD3563}" dt="2026-09-23T05:15:47.218" v="132" actId="1076"/>
          <ac:spMkLst>
            <pc:docMk/>
            <pc:sldMk cId="0" sldId="265"/>
            <ac:spMk id="10" creationId="{00000000-0000-0000-0000-000000000000}"/>
          </ac:spMkLst>
        </pc:spChg>
        <pc:spChg chg="add del mod">
          <ac:chgData name="Faizaan Mohammad" userId="1d8cebe88c6c54eb" providerId="LiveId" clId="{9D323E12-E77F-4C5F-9963-DCA56EAD3563}" dt="2026-09-23T05:11:34.716" v="78"/>
          <ac:spMkLst>
            <pc:docMk/>
            <pc:sldMk cId="0" sldId="265"/>
            <ac:spMk id="14" creationId="{4ACD75A2-89EB-A9F4-C5CA-FC7BD72496B8}"/>
          </ac:spMkLst>
        </pc:spChg>
        <pc:graphicFrameChg chg="mod modGraphic">
          <ac:chgData name="Faizaan Mohammad" userId="1d8cebe88c6c54eb" providerId="LiveId" clId="{9D323E12-E77F-4C5F-9963-DCA56EAD3563}" dt="2026-09-23T05:12:42.783" v="92" actId="1076"/>
          <ac:graphicFrameMkLst>
            <pc:docMk/>
            <pc:sldMk cId="0" sldId="265"/>
            <ac:graphicFrameMk id="11" creationId="{00000000-0000-0000-0000-000000000000}"/>
          </ac:graphicFrameMkLst>
        </pc:graphicFrameChg>
        <pc:picChg chg="mod">
          <ac:chgData name="Faizaan Mohammad" userId="1d8cebe88c6c54eb" providerId="LiveId" clId="{9D323E12-E77F-4C5F-9963-DCA56EAD3563}" dt="2026-09-23T05:15:01.817" v="122" actId="1076"/>
          <ac:picMkLst>
            <pc:docMk/>
            <pc:sldMk cId="0" sldId="265"/>
            <ac:picMk id="7" creationId="{00000000-0000-0000-0000-000000000000}"/>
          </ac:picMkLst>
        </pc:picChg>
        <pc:picChg chg="mod">
          <ac:chgData name="Faizaan Mohammad" userId="1d8cebe88c6c54eb" providerId="LiveId" clId="{9D323E12-E77F-4C5F-9963-DCA56EAD3563}" dt="2026-09-23T05:16:04.545" v="136" actId="1076"/>
          <ac:picMkLst>
            <pc:docMk/>
            <pc:sldMk cId="0" sldId="265"/>
            <ac:picMk id="9" creationId="{00000000-0000-0000-0000-000000000000}"/>
          </ac:picMkLst>
        </pc:picChg>
        <pc:picChg chg="add mod">
          <ac:chgData name="Faizaan Mohammad" userId="1d8cebe88c6c54eb" providerId="LiveId" clId="{9D323E12-E77F-4C5F-9963-DCA56EAD3563}" dt="2026-09-23T05:10:40.157" v="72" actId="14100"/>
          <ac:picMkLst>
            <pc:docMk/>
            <pc:sldMk cId="0" sldId="265"/>
            <ac:picMk id="13" creationId="{EAFB9CBA-BA17-FDEE-2DA2-212DB4E4BA0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6305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697236"/>
            <a:ext cx="6296860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Credit Scoring Using Elastic Net Regularized Logistic Regression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343301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| Machine Learning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Team: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Faizaan — 2520030359 · Abhiram K — 2520030357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742182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2498130"/>
            <a:ext cx="6296860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institutions must assess creditworthiness before approving loans; traditional rules can miss complex patterns.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 build a data-driven classifier that predicts whether a customer will default (loan_status = 1) or not (loan_status = 0).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value: reduce credit risk, identify high‑risk applicants, and support consistent, data‑informed lending decisions.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model is a decision support tool and does not replace human judgement.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027"/>
            <a:ext cx="10868745" cy="450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kern="0" spc="-8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&amp; Features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58317"/>
            <a:ext cx="4649175" cy="46492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56528" y="1392535"/>
            <a:ext cx="638952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Source: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Kaggle Credit Risk Dataset (used in project)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756528" y="1828502"/>
            <a:ext cx="5779943" cy="964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Records: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32,581 (before duplicate removal)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Columns: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12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Target: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loan_status — 0 = Non-default, 1 = Default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756528" y="2964656"/>
            <a:ext cx="577994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Selected Features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756528" y="3417788"/>
            <a:ext cx="5779943" cy="1561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Numerical: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person_age, person_income, person_emp_length, loan_amnt, loan_int_rate, loan_percent_income, cb_person_cred_hist_length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Categorical: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person_home_ownership, loan_intent, loan_grade, cb_person_default_on_file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756528" y="5172869"/>
            <a:ext cx="5779943" cy="961827"/>
          </a:xfrm>
          <a:prstGeom prst="roundRect">
            <a:avLst>
              <a:gd name="adj" fmla="val 7867"/>
            </a:avLst>
          </a:prstGeom>
          <a:solidFill>
            <a:srgbClr val="DADBF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605" y="5435005"/>
            <a:ext cx="225122" cy="1800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41805" y="5372298"/>
            <a:ext cx="5014589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Mixed variable types → careful preprocessing (imputation, encoding, scaling)</a:t>
            </a:r>
            <a:endParaRPr lang="en-US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865582-514D-92E3-4C39-02303F84BB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426" y="6316933"/>
            <a:ext cx="3162574" cy="5410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7919" y="0"/>
            <a:ext cx="462377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487091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Quality &amp; Target Distribution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2243038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Key data-quality notes:   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61475" y="2758083"/>
            <a:ext cx="6296860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165 duplicate rows were identified and removed.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values concentrated in: person_emp_length (895 missing), loan_int_rate (3,116 missing).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imbalance: ≈ 78.18% non-default vs 21.82% default.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4312543"/>
            <a:ext cx="6296860" cy="1058366"/>
          </a:xfrm>
          <a:prstGeom prst="roundRect">
            <a:avLst>
              <a:gd name="adj" fmla="val 7501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4580235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75723" y="4548783"/>
            <a:ext cx="54936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Because classes are imbalanced, evaluate with precision, recall, F1 and ROC‑AUC — not accuracy alone.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1061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kern="0" spc="-6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Numerical EDA — Income &amp; Loan Burden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46448"/>
            <a:ext cx="5257867" cy="3384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255518"/>
            <a:ext cx="5257867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Income distribution:</a:t>
            </a:r>
            <a:r>
              <a:rPr lang="en-US" sz="11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person_income is highly right‑skewed with extreme high‑income outliers.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903" y="1203623"/>
            <a:ext cx="4827368" cy="39617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78703" y="5289947"/>
            <a:ext cx="5257867" cy="917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spcAft>
                <a:spcPts val="750"/>
              </a:spcAft>
              <a:buNone/>
            </a:pPr>
            <a:r>
              <a:rPr lang="en-US" sz="110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Loan-to-income insight:</a:t>
            </a:r>
            <a:r>
              <a:rPr lang="en-US" sz="11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higher loan-to-income ratios are associated with defaulting customers.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Implication: apply robust scaling / transformation and consider outlier handling before Logistic Regression.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36FB74-38CE-6514-82BF-E5FB69648C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426" y="6292943"/>
            <a:ext cx="3162574" cy="5410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7721"/>
            <a:ext cx="10868745" cy="391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kern="0" spc="-7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Credit Risk Patterns (Categorical)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661475" y="1308199"/>
            <a:ext cx="11478330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views from EDA — place side by side for comparison.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28602"/>
            <a:ext cx="3330889" cy="26721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646513"/>
            <a:ext cx="3330889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Loan Grade:</a:t>
            </a: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default rate rises markedly from A (~10%) to G (~99%).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61475" y="5250061"/>
            <a:ext cx="3330889" cy="769144"/>
          </a:xfrm>
          <a:prstGeom prst="roundRect">
            <a:avLst>
              <a:gd name="adj" fmla="val 8548"/>
            </a:avLst>
          </a:prstGeom>
          <a:solidFill>
            <a:srgbClr val="DADB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939" y="5453261"/>
            <a:ext cx="195654" cy="1564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057" y="5405735"/>
            <a:ext cx="2665842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Loan grade shows a strong association with observed credit risk.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0497" y="1828602"/>
            <a:ext cx="3330889" cy="23212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80497" y="4295577"/>
            <a:ext cx="3330889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Loan Intent:</a:t>
            </a: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default rates vary by purpose (e.g., Debt consolidation ~29% vs Venture ~15%).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9520" y="1828602"/>
            <a:ext cx="3443301" cy="270748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099520" y="4681835"/>
            <a:ext cx="3443301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Previous Default:</a:t>
            </a: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→ ~38% default vs N → ~18% default.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8099520" y="5285383"/>
            <a:ext cx="3443301" cy="769144"/>
          </a:xfrm>
          <a:prstGeom prst="roundRect">
            <a:avLst>
              <a:gd name="adj" fmla="val 8548"/>
            </a:avLst>
          </a:prstGeom>
          <a:solidFill>
            <a:srgbClr val="DADBF1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984" y="5488583"/>
            <a:ext cx="195654" cy="1564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608103" y="5441057"/>
            <a:ext cx="277825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 default history is strongly associated with current default risk.</a:t>
            </a:r>
            <a:endParaRPr lang="en-US" sz="1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452AC5A-2253-91AF-F013-CA6239FE6E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9426" y="6252189"/>
            <a:ext cx="3162574" cy="5410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4257"/>
            <a:ext cx="6296860" cy="450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kern="0" spc="-8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Correlation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61475" y="1272282"/>
            <a:ext cx="690644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Relevant correlations with loan_status (association, not causation):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61475" y="1746945"/>
            <a:ext cx="6296860" cy="2330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loan_percent_income → </a:t>
            </a: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+0.38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loan_int_rate → </a:t>
            </a: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+0.34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loan_amnt → </a:t>
            </a: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+0.11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person_income → </a:t>
            </a: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−0.14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person_emp_length → </a:t>
            </a: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−0.08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person_age → </a:t>
            </a: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−0.02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cb_person_cred_hist_length → </a:t>
            </a: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−0.02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1475" y="4270673"/>
            <a:ext cx="6296860" cy="850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Strong inter‑predictor correlation: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person_age </a:t>
            </a:r>
            <a:r>
              <a:rPr lang="en-US" sz="1400" kern="0" spc="-2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↔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cb_person_cred_hist_length = </a:t>
            </a: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+0.86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overlapping information among predictors.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1475" y="5314652"/>
            <a:ext cx="6296860" cy="978991"/>
          </a:xfrm>
          <a:prstGeom prst="roundRect">
            <a:avLst>
              <a:gd name="adj" fmla="val 7729"/>
            </a:avLst>
          </a:prstGeom>
          <a:solidFill>
            <a:srgbClr val="DADBF1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552" y="5557738"/>
            <a:ext cx="225122" cy="1800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46752" y="5531247"/>
            <a:ext cx="5531505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 Net helps when predictors are correlated by combining L1 (sparsity) and L2 (stability).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084" y="1041104"/>
            <a:ext cx="5701005" cy="55857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9492" y="2031780"/>
            <a:ext cx="1948539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Cleaning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3659492" y="2424420"/>
            <a:ext cx="1948539" cy="366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duplicates and fix types.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594018" y="2031781"/>
            <a:ext cx="1948539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Imputation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94018" y="2424420"/>
            <a:ext cx="1948539" cy="366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Fill missing values with robust methods.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59662" y="4966210"/>
            <a:ext cx="1948538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Encoding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3659662" y="5358849"/>
            <a:ext cx="1948538" cy="366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 categoricals to numeric features.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94018" y="4966210"/>
            <a:ext cx="1948539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Scaling &amp; Split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594018" y="5358849"/>
            <a:ext cx="1948539" cy="366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features then split for training.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52000" y="959992"/>
            <a:ext cx="11478330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highlights:</a:t>
            </a:r>
            <a:endParaRPr lang="en-US" sz="2000" b="1" dirty="0"/>
          </a:p>
        </p:txBody>
      </p:sp>
      <p:sp>
        <p:nvSpPr>
          <p:cNvPr id="13" name="Text 10"/>
          <p:cNvSpPr/>
          <p:nvPr/>
        </p:nvSpPr>
        <p:spPr>
          <a:xfrm>
            <a:off x="372226" y="1506354"/>
            <a:ext cx="2781521" cy="501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6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Cleaning: remove duplicates and fix data types.</a:t>
            </a: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endParaRPr lang="en-US" sz="16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6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Imputation: use median, mode, or model-based strategies for missing values.</a:t>
            </a: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endParaRPr lang="en-US" sz="16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6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Encoding: apply one-hot or target encoding for categorical features.</a:t>
            </a: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endParaRPr lang="en-US" sz="16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6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Scaling: use robust or standard scaling for numeric features, especially with skew or outliers.</a:t>
            </a: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endParaRPr lang="en-US" sz="16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6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Train/Test Split: separate data for modeling and validation.</a:t>
            </a:r>
            <a:endParaRPr lang="en-US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8755897-56CD-83A1-A2EC-42EB739CB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426" y="6279316"/>
            <a:ext cx="3162574" cy="54106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29883ED-C061-67A1-12F7-83C3A56309A9}"/>
              </a:ext>
            </a:extLst>
          </p:cNvPr>
          <p:cNvSpPr txBox="1"/>
          <p:nvPr/>
        </p:nvSpPr>
        <p:spPr>
          <a:xfrm>
            <a:off x="193611" y="259158"/>
            <a:ext cx="6097554" cy="521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kern="0" spc="-4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Proposed ML Pipeline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4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Evaluation &amp; 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55929" y="1182737"/>
            <a:ext cx="6483585" cy="320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 evaluation metrics (after training):</a:t>
            </a:r>
            <a:endParaRPr lang="en-US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70451"/>
              </p:ext>
            </p:extLst>
          </p:nvPr>
        </p:nvGraphicFramePr>
        <p:xfrm>
          <a:off x="755929" y="1556494"/>
          <a:ext cx="5874000" cy="1539240"/>
        </p:xfrm>
        <a:graphic>
          <a:graphicData uri="http://schemas.openxmlformats.org/drawingml/2006/table">
            <a:tbl>
              <a:tblPr/>
              <a:tblGrid>
                <a:gridCol w="146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2750">
                  <a:extLst>
                    <a:ext uri="{9D8B030D-6E8A-4147-A177-3AD203B41FA5}">
                      <a16:colId xmlns:a16="http://schemas.microsoft.com/office/drawing/2014/main" val="2856182120"/>
                    </a:ext>
                  </a:extLst>
                </a:gridCol>
                <a:gridCol w="220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6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kern="0" spc="-15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Metric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kern="0" spc="-15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Result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6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kern="0" spc="-15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Accuracy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kern="0" spc="-15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 be evaluated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6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kern="0" spc="-15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Precision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kern="0" spc="-15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 be evaluated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6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kern="0" spc="-15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Recall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kern="0" spc="-15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 be evaluated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6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kern="0" spc="-15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F1-score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kern="0" spc="-15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 be evaluated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6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kern="0" spc="-15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ROC‑AUC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kern="0" spc="-15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 be evaluated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45557" y="3171989"/>
            <a:ext cx="6483585" cy="274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-1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Confusion matrix:</a:t>
            </a:r>
            <a:r>
              <a:rPr 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be generated after model predictions on test set.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61474" y="3508873"/>
            <a:ext cx="6318969" cy="474213"/>
          </a:xfrm>
          <a:prstGeom prst="roundRect">
            <a:avLst>
              <a:gd name="adj" fmla="val 16164"/>
            </a:avLst>
          </a:prstGeom>
          <a:solidFill>
            <a:srgbClr val="DADBF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21" y="3553667"/>
            <a:ext cx="340020" cy="2720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6188" y="3629169"/>
            <a:ext cx="6082156" cy="283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-1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invent results — model evaluation will follow training and proper cross‑validation.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991" y="84768"/>
            <a:ext cx="4764068" cy="476418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4" y="4161365"/>
            <a:ext cx="476406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kern="0" spc="-2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Text 6"/>
          <p:cNvSpPr/>
          <p:nvPr/>
        </p:nvSpPr>
        <p:spPr>
          <a:xfrm>
            <a:off x="673821" y="4736268"/>
            <a:ext cx="10774291" cy="1574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6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preprocessing pipeline and cross‑validated hyperparameter search for Elastic Net (alpha, l1_ratio).</a:t>
            </a: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endParaRPr lang="en-US" sz="16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6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class imbalance with resampling or class weights; tune decision threshold based on business priorities (precision vs recall).</a:t>
            </a: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endParaRPr lang="en-US" sz="16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6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model fairness and stability; prepare explainability outputs (feature coefficients or SHAP summaries) for stakeholder review.</a:t>
            </a:r>
            <a:endParaRPr lang="en-US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FB9CBA-BA17-FDEE-2DA2-212DB4E4BA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426" y="6485831"/>
            <a:ext cx="3162574" cy="3721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803</Words>
  <Application>Microsoft Office PowerPoint</Application>
  <PresentationFormat>Widescreen</PresentationFormat>
  <Paragraphs>95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Inter</vt:lpstr>
      <vt:lpstr>Arial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Faizaan Mohammad</cp:lastModifiedBy>
  <cp:revision>1</cp:revision>
  <dcterms:created xsi:type="dcterms:W3CDTF">2026-09-23T05:02:42Z</dcterms:created>
  <dcterms:modified xsi:type="dcterms:W3CDTF">2026-09-23T05:20:32Z</dcterms:modified>
</cp:coreProperties>
</file>